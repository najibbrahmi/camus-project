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F61"/>
                </a:solidFill>
                <a:latin typeface="Calibri"/>
              </a:rPr>
              <a:t>HEADLINE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6035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2F4F8"/>
                </a:solidFill>
                <a:latin typeface="Calibri"/>
              </a:rPr>
              <a:t>10% of the labels.</a:t>
            </a:r>
          </a:p>
          <a:p>
            <a:pPr algn="l"/>
            <a:r>
              <a:rPr sz="3600" b="1">
                <a:solidFill>
                  <a:srgbClr val="F2F4F8"/>
                </a:solidFill>
                <a:latin typeface="Calibri"/>
              </a:rPr>
              <a:t>93% of the Dice.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00200"/>
            <a:ext cx="5669280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0" b="1">
                <a:solidFill>
                  <a:srgbClr val="FF6F61"/>
                </a:solidFill>
                <a:latin typeface="Calibri"/>
              </a:rPr>
              <a:t>10×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8620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2F4F8"/>
                </a:solidFill>
                <a:latin typeface="Calibri"/>
              </a:rPr>
              <a:t>FEWER LABELS</a:t>
            </a:r>
          </a:p>
          <a:p>
            <a:pPr algn="ctr"/>
            <a:r>
              <a:rPr sz="1300" b="0">
                <a:solidFill>
                  <a:srgbClr val="9AA4B2"/>
                </a:solidFill>
                <a:latin typeface="Calibri"/>
              </a:rPr>
              <a:t>10%  vs  100%  annotation budget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868680"/>
            <a:ext cx="4846320" cy="932688"/>
          </a:xfrm>
          <a:prstGeom prst="roundRect">
            <a:avLst/>
          </a:prstGeom>
          <a:solidFill>
            <a:srgbClr val="171C26"/>
          </a:solidFill>
          <a:ln w="15875">
            <a:solidFill>
              <a:srgbClr val="2A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67144" y="978407"/>
            <a:ext cx="91440" cy="713232"/>
          </a:xfrm>
          <a:prstGeom prst="rect">
            <a:avLst/>
          </a:prstGeom>
          <a:solidFill>
            <a:srgbClr val="FF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86600" y="1033271"/>
            <a:ext cx="603504" cy="603504"/>
          </a:xfrm>
          <a:prstGeom prst="ellipse">
            <a:avLst/>
          </a:prstGeom>
          <a:solidFill>
            <a:srgbClr val="1E2530"/>
          </a:solidFill>
          <a:ln w="17780">
            <a:solidFill>
              <a:srgbClr val="FF6F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033271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6F61"/>
                </a:solidFill>
                <a:latin typeface="Calibri"/>
              </a:rPr>
              <a:t>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978407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AA4B2"/>
                </a:solidFill>
                <a:latin typeface="Calibri"/>
              </a:rPr>
              <a:t>DICE SCORE  ·  MAE @10%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271016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2F4F8"/>
                </a:solidFill>
                <a:latin typeface="Calibri"/>
              </a:rPr>
              <a:t>0.86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1325880"/>
            <a:ext cx="19933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alibri"/>
              </a:rPr>
              <a:t>vs 0.93 @100%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993392"/>
            <a:ext cx="4846320" cy="932688"/>
          </a:xfrm>
          <a:prstGeom prst="roundRect">
            <a:avLst/>
          </a:prstGeom>
          <a:solidFill>
            <a:srgbClr val="171C26"/>
          </a:solidFill>
          <a:ln w="15875">
            <a:solidFill>
              <a:srgbClr val="2A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67144" y="2103120"/>
            <a:ext cx="91440" cy="713232"/>
          </a:xfrm>
          <a:prstGeom prst="rect">
            <a:avLst/>
          </a:prstGeom>
          <a:solidFill>
            <a:srgbClr val="FF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86600" y="2157984"/>
            <a:ext cx="603504" cy="603504"/>
          </a:xfrm>
          <a:prstGeom prst="ellipse">
            <a:avLst/>
          </a:prstGeom>
          <a:solidFill>
            <a:srgbClr val="1E2530"/>
          </a:solidFill>
          <a:ln w="17780">
            <a:solidFill>
              <a:srgbClr val="FF6F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215798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6F61"/>
                </a:solidFill>
                <a:latin typeface="Calibri"/>
              </a:rPr>
              <a:t>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1031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AA4B2"/>
                </a:solidFill>
                <a:latin typeface="Calibri"/>
              </a:rPr>
              <a:t>EF MAE  ·  MAE @10%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395728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2F4F8"/>
                </a:solidFill>
                <a:latin typeface="Calibri"/>
              </a:rPr>
              <a:t>12.6%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2450592"/>
            <a:ext cx="19933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alibri"/>
              </a:rPr>
              <a:t>vs 6.9% @100%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3118104"/>
            <a:ext cx="4846320" cy="932688"/>
          </a:xfrm>
          <a:prstGeom prst="roundRect">
            <a:avLst/>
          </a:prstGeom>
          <a:solidFill>
            <a:srgbClr val="171C26"/>
          </a:solidFill>
          <a:ln w="15875">
            <a:solidFill>
              <a:srgbClr val="2A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67144" y="3227832"/>
            <a:ext cx="91440" cy="713232"/>
          </a:xfrm>
          <a:prstGeom prst="rect">
            <a:avLst/>
          </a:prstGeom>
          <a:solidFill>
            <a:srgbClr val="FF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86600" y="3282696"/>
            <a:ext cx="603504" cy="603504"/>
          </a:xfrm>
          <a:prstGeom prst="ellipse">
            <a:avLst/>
          </a:prstGeom>
          <a:solidFill>
            <a:srgbClr val="1E2530"/>
          </a:solidFill>
          <a:ln w="17780">
            <a:solidFill>
              <a:srgbClr val="FF6F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3282696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6F61"/>
                </a:solidFill>
                <a:latin typeface="Calibri"/>
              </a:rPr>
              <a:t>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22783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AA4B2"/>
                </a:solidFill>
                <a:latin typeface="Calibri"/>
              </a:rPr>
              <a:t>LABEL EFFICIENCY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52044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2F4F8"/>
                </a:solidFill>
                <a:latin typeface="Calibri"/>
              </a:rPr>
              <a:t>10×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575304"/>
            <a:ext cx="19933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alibri"/>
              </a:rPr>
              <a:t>fewer labels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26280"/>
            <a:ext cx="11091672" cy="822960"/>
          </a:xfrm>
          <a:prstGeom prst="roundRect">
            <a:avLst/>
          </a:prstGeom>
          <a:solidFill>
            <a:srgbClr val="241A18"/>
          </a:solidFill>
          <a:ln w="25400">
            <a:solidFill>
              <a:srgbClr val="FF6F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526280"/>
            <a:ext cx="1090879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2F4F8"/>
                </a:solidFill>
                <a:latin typeface="Calibri"/>
              </a:rPr>
              <a:t>MAE-pretrained at 10% labels reaches 0.86 Dice — within 0.07 of the</a:t>
            </a:r>
          </a:p>
          <a:p>
            <a:pPr algn="ctr"/>
            <a:r>
              <a:rPr sz="1500" b="1">
                <a:solidFill>
                  <a:srgbClr val="F2F4F8"/>
                </a:solidFill>
                <a:latin typeface="Calibri"/>
              </a:rPr>
              <a:t>fully-supervised baseline trained on 100% of the labels.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48640" y="5532120"/>
          <a:ext cx="11091672" cy="960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2011680"/>
                <a:gridCol w="2926080"/>
                <a:gridCol w="1947672"/>
              </a:tblGrid>
              <a:tr h="3200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9AA4B2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 marL="73152" marT="18288" marB="18288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9AA4B2"/>
                          </a:solidFill>
                          <a:latin typeface="Calibri"/>
                        </a:rPr>
                        <a:t>Labels</a:t>
                      </a:r>
                    </a:p>
                  </a:txBody>
                  <a:tcPr anchor="ctr" marL="73152" marT="18288" marB="18288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9AA4B2"/>
                          </a:solidFill>
                          <a:latin typeface="Calibri"/>
                        </a:rPr>
                        <a:t>Dice (2CH / 4CH)</a:t>
                      </a:r>
                    </a:p>
                  </a:txBody>
                  <a:tcPr anchor="ctr" marL="73152" marT="18288" marB="18288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9AA4B2"/>
                          </a:solidFill>
                          <a:latin typeface="Calibri"/>
                        </a:rPr>
                        <a:t>EF MAE</a:t>
                      </a:r>
                    </a:p>
                  </a:txBody>
                  <a:tcPr anchor="ctr" marL="73152" marT="18288" marB="18288">
                    <a:solidFill>
                      <a:srgbClr val="0E111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MAE Pretrained</a:t>
                      </a:r>
                    </a:p>
                  </a:txBody>
                  <a:tcPr anchor="ctr" marL="73152" marT="18288" marB="18288">
                    <a:solidFill>
                      <a:srgbClr val="241A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anchor="ctr" marL="73152" marT="18288" marB="18288">
                    <a:solidFill>
                      <a:srgbClr val="241A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0.862 / 0.864</a:t>
                      </a:r>
                    </a:p>
                  </a:txBody>
                  <a:tcPr anchor="ctr" marL="73152" marT="18288" marB="18288">
                    <a:solidFill>
                      <a:srgbClr val="241A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12.65%</a:t>
                      </a:r>
                    </a:p>
                  </a:txBody>
                  <a:tcPr anchor="ctr" marL="73152" marT="18288" marB="18288">
                    <a:solidFill>
                      <a:srgbClr val="241A1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9AA4B2"/>
                          </a:solidFill>
                          <a:latin typeface="Calibri"/>
                        </a:rPr>
                        <a:t>Supervised Baseline</a:t>
                      </a:r>
                    </a:p>
                  </a:txBody>
                  <a:tcPr anchor="ctr" marL="73152" marT="18288" marB="18288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9AA4B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 marL="73152" marT="18288" marB="18288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9AA4B2"/>
                          </a:solidFill>
                          <a:latin typeface="Calibri"/>
                        </a:rPr>
                        <a:t>0.927 / 0.925</a:t>
                      </a:r>
                    </a:p>
                  </a:txBody>
                  <a:tcPr anchor="ctr" marL="73152" marT="18288" marB="18288">
                    <a:solidFill>
                      <a:srgbClr val="0E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9AA4B2"/>
                          </a:solidFill>
                          <a:latin typeface="Calibri"/>
                        </a:rPr>
                        <a:t>6.86%</a:t>
                      </a:r>
                    </a:p>
                  </a:txBody>
                  <a:tcPr anchor="ctr" marL="73152" marT="18288" marB="18288">
                    <a:solidFill>
                      <a:srgbClr val="0E1117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alibri"/>
              </a:rPr>
              <a:t>Source: CAMUS test set · 3 seeds · results/master_ablation_table.csv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